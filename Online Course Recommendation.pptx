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317" r:id="rId5"/>
    <p:sldId id="318" r:id="rId6"/>
    <p:sldId id="307" r:id="rId7"/>
    <p:sldId id="308" r:id="rId8"/>
    <p:sldId id="278" r:id="rId9"/>
    <p:sldId id="263" r:id="rId10"/>
    <p:sldId id="310" r:id="rId11"/>
    <p:sldId id="311" r:id="rId12"/>
    <p:sldId id="312" r:id="rId13"/>
    <p:sldId id="316" r:id="rId14"/>
    <p:sldId id="314" r:id="rId15"/>
    <p:sldId id="315" r:id="rId16"/>
    <p:sldId id="319" r:id="rId17"/>
    <p:sldId id="320" r:id="rId18"/>
    <p:sldId id="321" r:id="rId19"/>
    <p:sldId id="324" r:id="rId20"/>
    <p:sldId id="325" r:id="rId21"/>
    <p:sldId id="326" r:id="rId22"/>
    <p:sldId id="327" r:id="rId23"/>
    <p:sldId id="328" r:id="rId24"/>
    <p:sldId id="329" r:id="rId25"/>
    <p:sldId id="322" r:id="rId26"/>
    <p:sldId id="323" r:id="rId27"/>
    <p:sldId id="30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4/22/2025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912282" cy="1465006"/>
          </a:xfrm>
        </p:spPr>
        <p:txBody>
          <a:bodyPr anchor="ctr"/>
          <a:lstStyle/>
          <a:p>
            <a:r>
              <a:rPr lang="en-US" b="1" dirty="0">
                <a:latin typeface="Algerian" panose="04020705040A02060702" pitchFamily="82" charset="0"/>
              </a:rPr>
              <a:t>Online Course Recommendation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154D51-0B6E-5983-A146-16EAA9EF254E}"/>
              </a:ext>
            </a:extLst>
          </p:cNvPr>
          <p:cNvSpPr txBox="1"/>
          <p:nvPr/>
        </p:nvSpPr>
        <p:spPr>
          <a:xfrm>
            <a:off x="8249265" y="4267200"/>
            <a:ext cx="310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Group-5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D5B95-B9C2-F79E-EB5D-1AC4AFAB6BC7}"/>
              </a:ext>
            </a:extLst>
          </p:cNvPr>
          <p:cNvSpPr txBox="1"/>
          <p:nvPr/>
        </p:nvSpPr>
        <p:spPr>
          <a:xfrm>
            <a:off x="1553497" y="2379406"/>
            <a:ext cx="3903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Course Code:-P-530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40B2-E7CF-F4CF-E6B6-44C4F018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6" y="914400"/>
            <a:ext cx="9263411" cy="93406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lgerian" panose="04020705040A02060702" pitchFamily="82" charset="0"/>
              </a:rPr>
              <a:t>Online Course Recommendation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2DEF7-EC8E-091C-1019-E5480AA85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704" y="2241755"/>
            <a:ext cx="10402528" cy="234991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cap="none" dirty="0">
                <a:solidFill>
                  <a:schemeClr val="bg2">
                    <a:lumMod val="10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goal of this dataset is to build an online course recommendation system that suggests relevant courses to learners based on their past behavior, preferences, and other features.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cap="none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Overview of the Dataset Each row in the dataset represents a user's interaction with a course—so it combines both user-specific and course-specific data.</a:t>
            </a:r>
          </a:p>
        </p:txBody>
      </p:sp>
    </p:spTree>
    <p:extLst>
      <p:ext uri="{BB962C8B-B14F-4D97-AF65-F5344CB8AC3E}">
        <p14:creationId xmlns:p14="http://schemas.microsoft.com/office/powerpoint/2010/main" val="1824504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6" y="78658"/>
            <a:ext cx="9882843" cy="56043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lgerian" panose="04020705040A02060702" pitchFamily="82" charset="0"/>
              </a:rPr>
              <a:t>Data 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CD002-B16E-6C7F-F9ED-1E690C3AD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626" y="647020"/>
            <a:ext cx="8848615" cy="556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60D71B-A3D2-A9FB-50EA-58900371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735" y="226142"/>
            <a:ext cx="7777316" cy="609599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Shape of dataset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082911-E26E-04D0-5C2E-AEB6EC094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548" y="975970"/>
            <a:ext cx="5934903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48A9A8C-2747-7AAF-CE00-F7A9E62A9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415" y="373625"/>
            <a:ext cx="5991170" cy="79641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 Information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E7BDD6-CA4B-CA46-1939-B21302B64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285" y="1504681"/>
            <a:ext cx="5504701" cy="452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06" y="36004"/>
            <a:ext cx="10235381" cy="993058"/>
          </a:xfrm>
        </p:spPr>
        <p:txBody>
          <a:bodyPr anchor="b"/>
          <a:lstStyle/>
          <a:p>
            <a:r>
              <a:rPr lang="en-US" sz="3600" dirty="0">
                <a:latin typeface="Algerian" panose="04020705040A02060702" pitchFamily="82" charset="0"/>
              </a:rPr>
              <a:t>Statistical Summary of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05D53F-D71A-E8D2-1F7F-4F198756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26" y="1160206"/>
            <a:ext cx="6125430" cy="5601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B9DDF6-19DE-AC1F-D6E4-30E11A8F1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941" y="1748957"/>
            <a:ext cx="5591955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87829D-62AA-9DEC-4602-85DD10CF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6645"/>
            <a:ext cx="10360152" cy="934065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Value Counts of Categorical Data</a:t>
            </a:r>
            <a:endParaRPr lang="en-IN" b="1" dirty="0">
              <a:latin typeface="Algerian" panose="04020705040A02060702" pitchFamily="8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074439-78E9-817B-ABCE-5208325FE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22" y="1504418"/>
            <a:ext cx="5165908" cy="422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73626"/>
            <a:ext cx="10360152" cy="776748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Course Rating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018609-D907-0FBF-92BF-816B7DCDE3A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2821859" y="1448897"/>
            <a:ext cx="7063822" cy="4652019"/>
          </a:xfr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05" y="294968"/>
            <a:ext cx="10245213" cy="914400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Course Duration vs. Rating by Difficulty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36D9F1-09BD-931B-582B-382E74CF2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429" y="1399519"/>
            <a:ext cx="6668431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10360152" cy="875071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Course Price Vs. Enrollment Numbers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1B09F7-4225-3918-F44A-37CC095905B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740545" y="1325283"/>
            <a:ext cx="7212146" cy="4554521"/>
          </a:xfrm>
        </p:spPr>
      </p:pic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D921D4F-A243-FBF3-BC87-5C6BDDF58B0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934065" y="1085542"/>
            <a:ext cx="9910052" cy="5611147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17E648-C8FE-16D4-19EE-AB7AF94E6D88}"/>
              </a:ext>
            </a:extLst>
          </p:cNvPr>
          <p:cNvSpPr txBox="1"/>
          <p:nvPr/>
        </p:nvSpPr>
        <p:spPr>
          <a:xfrm>
            <a:off x="2064774" y="265471"/>
            <a:ext cx="6272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Summarization of dataset</a:t>
            </a:r>
            <a:endParaRPr lang="en-IN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F3DDB3-0C98-BBBC-1B01-0DC232ABE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315" y="1458975"/>
            <a:ext cx="9383434" cy="498227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87ED755-598C-976E-4890-4339654C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5806"/>
            <a:ext cx="10360152" cy="570271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Word Cloud Of Course Names</a:t>
            </a:r>
            <a:endParaRPr lang="en-IN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E668B-5C6B-F157-EC99-1F9402AD5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39" y="521109"/>
            <a:ext cx="10360152" cy="717755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Distribution of Courses By Difficulty Level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466DE-01ED-4086-345C-A7E8F351D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AF914B-D2FF-F2C8-84C0-A1D35915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07" y="1455862"/>
            <a:ext cx="6146938" cy="394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3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3C00-0DDF-5E3F-6F93-4B77908B9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3131"/>
            <a:ext cx="10360152" cy="914400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Libraries used for Model Building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AA594-4B2D-C7F4-2618-F390E5DA3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D57FB-27F7-2B13-720E-42BC31725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980" y="1482407"/>
            <a:ext cx="9343644" cy="389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05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4C8D-1A25-D95B-7FBE-12079F6E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4554337" cy="914400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Logistic Regression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02800-5AB1-1D80-192F-795E94761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8D78C-7BC6-B382-42B4-7AEBFFC5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88" y="2039111"/>
            <a:ext cx="4467849" cy="2438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1FF58E-975F-C316-5362-F3FACC5DE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768" y="2039111"/>
            <a:ext cx="4486901" cy="2372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0F971C-CAE8-C358-2D27-2729AF18725D}"/>
              </a:ext>
            </a:extLst>
          </p:cNvPr>
          <p:cNvSpPr txBox="1"/>
          <p:nvPr/>
        </p:nvSpPr>
        <p:spPr>
          <a:xfrm>
            <a:off x="6499123" y="1244025"/>
            <a:ext cx="4406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Decision Tree</a:t>
            </a:r>
            <a:endParaRPr lang="en-IN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438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A103-D57E-A829-BFAD-3F6C1457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557" y="914399"/>
            <a:ext cx="4344006" cy="983227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Random Forest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6D43B-6A3A-D03D-AD0F-892B620A1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Table Placeholder 6">
            <a:extLst>
              <a:ext uri="{FF2B5EF4-FFF2-40B4-BE49-F238E27FC236}">
                <a16:creationId xmlns:a16="http://schemas.microsoft.com/office/drawing/2014/main" id="{4C03DBA1-01DE-2F73-272A-59CDA4ECADE2}"/>
              </a:ext>
            </a:extLst>
          </p:cNvPr>
          <p:cNvPicPr>
            <a:picLocks noGrp="1" noChangeAspect="1"/>
          </p:cNvPicPr>
          <p:nvPr>
            <p:ph type="tbl" sz="quarter" idx="14"/>
          </p:nvPr>
        </p:nvPicPr>
        <p:blipFill>
          <a:blip r:embed="rId2"/>
          <a:stretch>
            <a:fillRect/>
          </a:stretch>
        </p:blipFill>
        <p:spPr>
          <a:xfrm>
            <a:off x="1041557" y="2087245"/>
            <a:ext cx="4344006" cy="2353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95BC41-7CF6-DBDC-BFC1-3C2F31FA4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492" y="2025323"/>
            <a:ext cx="4906060" cy="2476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C05CAB-8DF7-1546-D68F-71B4CE0DDC04}"/>
              </a:ext>
            </a:extLst>
          </p:cNvPr>
          <p:cNvSpPr txBox="1"/>
          <p:nvPr/>
        </p:nvSpPr>
        <p:spPr>
          <a:xfrm>
            <a:off x="6430546" y="948105"/>
            <a:ext cx="47819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KNN </a:t>
            </a:r>
            <a:r>
              <a:rPr lang="en-IN" sz="3200" b="1" dirty="0">
                <a:latin typeface="Algerian" panose="04020705040A02060702" pitchFamily="82" charset="0"/>
              </a:rPr>
              <a:t>(K-NEAREST NEIGHBORS)</a:t>
            </a:r>
            <a:endParaRPr lang="en-US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733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BA4D-0B3D-7843-B1CC-4AB25B89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4955458" cy="943897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XGBOOST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46654-A58A-A0AD-7D41-5B8091B65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Table Placeholder 6">
            <a:extLst>
              <a:ext uri="{FF2B5EF4-FFF2-40B4-BE49-F238E27FC236}">
                <a16:creationId xmlns:a16="http://schemas.microsoft.com/office/drawing/2014/main" id="{47DCEE91-F900-1670-6D32-9B5495564965}"/>
              </a:ext>
            </a:extLst>
          </p:cNvPr>
          <p:cNvPicPr>
            <a:picLocks noGrp="1" noChangeAspect="1"/>
          </p:cNvPicPr>
          <p:nvPr>
            <p:ph type="tbl" sz="quarter" idx="14"/>
          </p:nvPr>
        </p:nvPicPr>
        <p:blipFill>
          <a:blip r:embed="rId2"/>
          <a:stretch>
            <a:fillRect/>
          </a:stretch>
        </p:blipFill>
        <p:spPr>
          <a:xfrm>
            <a:off x="914400" y="2056655"/>
            <a:ext cx="5029902" cy="2591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FB24B1-9F67-BBE4-FA6C-99BDE3C8A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335" y="2128102"/>
            <a:ext cx="4782217" cy="24482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396F8A-2AA9-5512-E580-10C48211ADC8}"/>
              </a:ext>
            </a:extLst>
          </p:cNvPr>
          <p:cNvSpPr txBox="1"/>
          <p:nvPr/>
        </p:nvSpPr>
        <p:spPr>
          <a:xfrm>
            <a:off x="6492335" y="1050884"/>
            <a:ext cx="40871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SUPPORT VECTOR MACHINE</a:t>
            </a:r>
            <a:endParaRPr lang="en-IN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854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028A5-E997-9755-D159-05513223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BAGGING CLASSIFICATION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E9697-CC4D-BAEC-07E8-789D8B908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D1DB4B-93FF-1266-E82A-57C28E14B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996" y="2114366"/>
            <a:ext cx="7944959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1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A1E2-CBF1-958E-4E76-3C6FC416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ADA BOOST CLASSIFICATION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B5199-ACA8-4BDA-00DB-2C3CAEA01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3016C-32BD-F9AA-BE6C-022D895E9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760" y="2096712"/>
            <a:ext cx="6715432" cy="313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77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50C5-50C3-C449-968F-AC38D695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GRADIENT BOOSTING 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EFFE0-42FA-48A7-0931-A7A41EA73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EFF5EF-C4AD-BF01-5158-10C1B7EB2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34" y="2585867"/>
            <a:ext cx="8386916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31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3979-D024-B08E-2340-D3A28D26D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CLASSIFICATION MODELS ACCURACY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6AC22-B451-1032-CDA0-07AD8405D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4310B-CE8B-03C5-0E80-E44916881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145" y="2002821"/>
            <a:ext cx="6963747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05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55D-2794-59B0-F54A-FA1CAD62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B84A579-0EDD-5583-B764-9B7B231198E2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480EF-63C2-EFA8-FE68-BAAFC82AF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2619EA-5330-AB76-C2A8-8F8AD2B4F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" y="361522"/>
            <a:ext cx="12088912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19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634F-74E9-E560-880D-95BCD2F3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HYPER PARAMETER TUINING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7E2E3-FED5-01B4-A88B-6FC00260D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7194D-B4D2-B2D1-9F82-E7D2FC601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468" y="2097322"/>
            <a:ext cx="6209754" cy="358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35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{375CD6E3-FD94-4EDA-A8F0-B77107F1986F}tf11964407_win32</Template>
  <TotalTime>93</TotalTime>
  <Words>177</Words>
  <Application>Microsoft Office PowerPoint</Application>
  <PresentationFormat>Widescreen</PresentationFormat>
  <Paragraphs>57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Algerian</vt:lpstr>
      <vt:lpstr>Arial</vt:lpstr>
      <vt:lpstr>Calibri</vt:lpstr>
      <vt:lpstr>Cambria</vt:lpstr>
      <vt:lpstr>Courier New</vt:lpstr>
      <vt:lpstr>Gill Sans Nova Light</vt:lpstr>
      <vt:lpstr>Sagona Book</vt:lpstr>
      <vt:lpstr>Custom</vt:lpstr>
      <vt:lpstr>Online Course Recommendation</vt:lpstr>
      <vt:lpstr>Online Course Recommendation</vt:lpstr>
      <vt:lpstr>Data Set</vt:lpstr>
      <vt:lpstr>Shape of dataset</vt:lpstr>
      <vt:lpstr>Data Information</vt:lpstr>
      <vt:lpstr>Statistical Summary of Dataset</vt:lpstr>
      <vt:lpstr>Value Counts of Categorical Data</vt:lpstr>
      <vt:lpstr>Course Rating Distribution</vt:lpstr>
      <vt:lpstr>Course Duration vs. Rating by Difficulty Level</vt:lpstr>
      <vt:lpstr>Course Price Vs. Enrollment Numbers</vt:lpstr>
      <vt:lpstr>PowerPoint Presentation</vt:lpstr>
      <vt:lpstr>Word Cloud Of Course Names</vt:lpstr>
      <vt:lpstr>Distribution of Courses By Difficulty Level</vt:lpstr>
      <vt:lpstr>Libraries used for Model Building</vt:lpstr>
      <vt:lpstr>Logistic Regression</vt:lpstr>
      <vt:lpstr>Random Forest</vt:lpstr>
      <vt:lpstr>XGBOOST</vt:lpstr>
      <vt:lpstr>BAGGING CLASSIFICATION</vt:lpstr>
      <vt:lpstr>ADA BOOST CLASSIFICATION</vt:lpstr>
      <vt:lpstr>GRADIENT BOOSTING </vt:lpstr>
      <vt:lpstr>CLASSIFICATION MODELS ACCURACY</vt:lpstr>
      <vt:lpstr>PowerPoint Presentation</vt:lpstr>
      <vt:lpstr>HYPER PARAMETER TUINING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Anishmita Das</dc:creator>
  <cp:lastModifiedBy>Anishmita Das</cp:lastModifiedBy>
  <cp:revision>2</cp:revision>
  <dcterms:created xsi:type="dcterms:W3CDTF">2025-04-11T15:14:47Z</dcterms:created>
  <dcterms:modified xsi:type="dcterms:W3CDTF">2025-04-22T11:20:40Z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